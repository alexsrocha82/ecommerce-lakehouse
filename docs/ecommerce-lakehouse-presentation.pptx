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54" autoAdjust="0"/>
    <p:restoredTop sz="94610"/>
  </p:normalViewPr>
  <p:slideViewPr>
    <p:cSldViewPr snapToGrid="0" snapToObjects="1">
      <p:cViewPr>
        <p:scale>
          <a:sx n="213" d="100"/>
          <a:sy n="213" d="100"/>
        </p:scale>
        <p:origin x="192" y="4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8649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Lakehouse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Documentation · Databricks Free Edition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Free Edition  ·  Delta Lake  ·  PySpark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Medallion Architecture · SCD Type 2+6 · PII Tokenization · Data Quality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251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github.com/alexsrocha82/ecommerce-lakehouse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1EFE8"/>
          </a:solidFill>
          <a:ln w="1270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Lakehouse · Technical Documentation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4023360" cy="713232"/>
          </a:xfrm>
          <a:prstGeom prst="rect">
            <a:avLst/>
          </a:prstGeom>
          <a:solidFill>
            <a:srgbClr val="E1F5EE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868680"/>
            <a:ext cx="420624" cy="7132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868680"/>
            <a:ext cx="4206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41248" y="868680"/>
            <a:ext cx="3511296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Medallion Architecture Overview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783080"/>
            <a:ext cx="4023360" cy="713232"/>
          </a:xfrm>
          <a:prstGeom prst="rect">
            <a:avLst/>
          </a:prstGeom>
          <a:solidFill>
            <a:srgbClr val="EEF2FF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5760" y="1783080"/>
            <a:ext cx="420624" cy="7132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5760" y="1783080"/>
            <a:ext cx="4206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41248" y="1783080"/>
            <a:ext cx="3511296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Layer — Auto Loader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697480"/>
            <a:ext cx="4023360" cy="713232"/>
          </a:xfrm>
          <a:prstGeom prst="rect">
            <a:avLst/>
          </a:prstGeom>
          <a:solidFill>
            <a:srgbClr val="E1F5EE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5760" y="2697480"/>
            <a:ext cx="420624" cy="7132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5760" y="2697480"/>
            <a:ext cx="4206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41248" y="2697480"/>
            <a:ext cx="3511296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Framework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611880"/>
            <a:ext cx="4023360" cy="713232"/>
          </a:xfrm>
          <a:prstGeom prst="rect">
            <a:avLst/>
          </a:prstGeom>
          <a:solidFill>
            <a:srgbClr val="EEF2FF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65760" y="3611880"/>
            <a:ext cx="420624" cy="7132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65760" y="3611880"/>
            <a:ext cx="4206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41248" y="3611880"/>
            <a:ext cx="3511296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 Type 2 + Type 6 + PII Tokenization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46320" y="868680"/>
            <a:ext cx="4023360" cy="713232"/>
          </a:xfrm>
          <a:prstGeom prst="rect">
            <a:avLst/>
          </a:prstGeom>
          <a:solidFill>
            <a:srgbClr val="E1F5EE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846320" y="868680"/>
            <a:ext cx="420624" cy="7132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46320" y="868680"/>
            <a:ext cx="4206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321808" y="868680"/>
            <a:ext cx="3511296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Layer — Star Schema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46320" y="1783080"/>
            <a:ext cx="4023360" cy="713232"/>
          </a:xfrm>
          <a:prstGeom prst="rect">
            <a:avLst/>
          </a:prstGeom>
          <a:solidFill>
            <a:srgbClr val="EEF2FF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846320" y="1783080"/>
            <a:ext cx="420624" cy="7132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46320" y="1783080"/>
            <a:ext cx="4206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321808" y="1783080"/>
            <a:ext cx="3511296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Monitoring + Analytics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46320" y="2697480"/>
            <a:ext cx="4023360" cy="713232"/>
          </a:xfrm>
          <a:prstGeom prst="rect">
            <a:avLst/>
          </a:prstGeom>
          <a:solidFill>
            <a:srgbClr val="E1F5EE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846320" y="2697480"/>
            <a:ext cx="420624" cy="7132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46320" y="2697480"/>
            <a:ext cx="4206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21808" y="2697480"/>
            <a:ext cx="3511296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OPTIMIZE, VACUUM &amp; Job Scheduling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46320" y="3611880"/>
            <a:ext cx="4023360" cy="713232"/>
          </a:xfrm>
          <a:prstGeom prst="rect">
            <a:avLst/>
          </a:prstGeom>
          <a:solidFill>
            <a:srgbClr val="EEF2FF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846320" y="3611880"/>
            <a:ext cx="420624" cy="7132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846320" y="3611880"/>
            <a:ext cx="4206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321808" y="3611880"/>
            <a:ext cx="3511296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Surrogate Keys — Why Not Used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Medallion Architecture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1EFE8"/>
          </a:solidFill>
          <a:ln w="1270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Lakehouse · Technical Documentation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777240"/>
            <a:ext cx="2743200" cy="3474720"/>
          </a:xfrm>
          <a:prstGeom prst="rect">
            <a:avLst/>
          </a:prstGeom>
          <a:solidFill>
            <a:srgbClr val="CD7F32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7772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02920" y="1417320"/>
            <a:ext cx="2468880" cy="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1463040"/>
            <a:ext cx="2743200" cy="27432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ingestion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only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Loader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08960" y="777240"/>
            <a:ext cx="2743200" cy="3474720"/>
          </a:xfrm>
          <a:prstGeom prst="rect">
            <a:avLst/>
          </a:prstGeom>
          <a:solidFill>
            <a:srgbClr val="708090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108960" y="7772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246120" y="1417320"/>
            <a:ext cx="2468880" cy="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108960" y="1463040"/>
            <a:ext cx="2743200" cy="27432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+ SCD2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tokenized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pattern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852160" y="777240"/>
            <a:ext cx="2743200" cy="3474720"/>
          </a:xfrm>
          <a:prstGeom prst="rect">
            <a:avLst/>
          </a:prstGeom>
          <a:solidFill>
            <a:srgbClr val="B8860B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852160" y="7772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989320" y="1417320"/>
            <a:ext cx="2468880" cy="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852160" y="1463040"/>
            <a:ext cx="2743200" cy="27432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PII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Analytics-ready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108960" y="2514600"/>
            <a:ext cx="0" cy="0"/>
          </a:xfrm>
          <a:prstGeom prst="line">
            <a:avLst/>
          </a:prstGeom>
          <a:noFill/>
          <a:ln w="19050">
            <a:solidFill>
              <a:srgbClr val="444441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090672" y="2514600"/>
            <a:ext cx="36576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090672" y="2514600"/>
            <a:ext cx="36576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833872" y="2514600"/>
            <a:ext cx="36576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65760" y="4389120"/>
            <a:ext cx="2468880" cy="457200"/>
          </a:xfrm>
          <a:prstGeom prst="rect">
            <a:avLst/>
          </a:prstGeom>
          <a:solidFill>
            <a:srgbClr val="A32D2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65760" y="4389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QUARANTINE  ·  Failed quality records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108960" y="4389120"/>
            <a:ext cx="2468880" cy="457200"/>
          </a:xfrm>
          <a:prstGeom prst="rect">
            <a:avLst/>
          </a:prstGeom>
          <a:solidFill>
            <a:srgbClr val="2C5F2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108960" y="4389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 ·  Quality logs, SLO tracking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Bronze Layer — Auto Loader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1EFE8"/>
          </a:solidFill>
          <a:ln w="1270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Lakehouse · Technical Documentation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2011680" cy="1828800"/>
          </a:xfrm>
          <a:prstGeom prst="rect">
            <a:avLst/>
          </a:prstGeom>
          <a:solidFill>
            <a:srgbClr val="708090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822960"/>
            <a:ext cx="201168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 Volume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Zone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1828800"/>
            <a:ext cx="201168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files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23160" y="822960"/>
            <a:ext cx="2011680" cy="1828800"/>
          </a:xfrm>
          <a:prstGeom prst="rect">
            <a:avLst/>
          </a:prstGeom>
          <a:solidFill>
            <a:srgbClr val="028090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423160" y="822960"/>
            <a:ext cx="201168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Loader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cloudFiles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23160" y="1828800"/>
            <a:ext cx="201168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inference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0" y="822960"/>
            <a:ext cx="2011680" cy="1828800"/>
          </a:xfrm>
          <a:prstGeom prst="rect">
            <a:avLst/>
          </a:prstGeom>
          <a:solidFill>
            <a:srgbClr val="534AB7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0" y="822960"/>
            <a:ext cx="201168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0" y="1828800"/>
            <a:ext cx="201168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Already-seen files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720840" y="822960"/>
            <a:ext cx="2011680" cy="1828800"/>
          </a:xfrm>
          <a:prstGeom prst="rect">
            <a:avLst/>
          </a:prstGeom>
          <a:solidFill>
            <a:srgbClr val="CD7F32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720840" y="822960"/>
            <a:ext cx="201168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Table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720840" y="1828800"/>
            <a:ext cx="201168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only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0" y="1737360"/>
            <a:ext cx="164592" cy="0"/>
          </a:xfrm>
          <a:prstGeom prst="line">
            <a:avLst/>
          </a:prstGeom>
          <a:noFill/>
          <a:ln w="25400">
            <a:solidFill>
              <a:srgbClr val="444441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434840" y="1737360"/>
            <a:ext cx="164592" cy="0"/>
          </a:xfrm>
          <a:prstGeom prst="line">
            <a:avLst/>
          </a:prstGeom>
          <a:noFill/>
          <a:ln w="25400">
            <a:solidFill>
              <a:srgbClr val="444441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583680" y="1737360"/>
            <a:ext cx="164592" cy="0"/>
          </a:xfrm>
          <a:prstGeom prst="line">
            <a:avLst/>
          </a:prstGeom>
          <a:noFill/>
          <a:ln w="25400">
            <a:solidFill>
              <a:srgbClr val="444441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74320" y="28803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behaviors: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3273552"/>
            <a:ext cx="137160" cy="1371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5488" y="32186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availableNow=True: processes all pending files then stops (no continuous cluster)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621024"/>
            <a:ext cx="137160" cy="1371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75488" y="35661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_metadata.file_path instead of input_file_name() (required for Unity Catalog)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3968496"/>
            <a:ext cx="137160" cy="1371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5488" y="39136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prevents re-ingestion: re-running the notebook never duplicates rows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4315968"/>
            <a:ext cx="137160" cy="1371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5488" y="426110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evolution: new columns in incoming files are automatically added to the table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Data Quality Framework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1EFE8"/>
          </a:solidFill>
          <a:ln w="1270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Lakehouse · Technical Documentation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7772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Quality Rules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188720"/>
            <a:ext cx="4023360" cy="411480"/>
          </a:xfrm>
          <a:prstGeom prst="rect">
            <a:avLst/>
          </a:prstGeom>
          <a:solidFill>
            <a:srgbClr val="F8F9FA"/>
          </a:solidFill>
          <a:ln w="1270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73152" cy="411480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11887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order_id NOT NULL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0" y="1261872"/>
            <a:ext cx="1005840" cy="256032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00400" y="126187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74320" y="1682496"/>
            <a:ext cx="4023360" cy="411480"/>
          </a:xfrm>
          <a:prstGeom prst="rect">
            <a:avLst/>
          </a:prstGeom>
          <a:solidFill>
            <a:srgbClr val="F8F9FA"/>
          </a:solidFill>
          <a:ln w="1270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" y="1682496"/>
            <a:ext cx="73152" cy="411480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11480" y="168249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customer_id NOT NULL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0" y="1755648"/>
            <a:ext cx="1005840" cy="256032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00400" y="175564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74320" y="2176272"/>
            <a:ext cx="4023360" cy="411480"/>
          </a:xfrm>
          <a:prstGeom prst="rect">
            <a:avLst/>
          </a:prstGeom>
          <a:solidFill>
            <a:srgbClr val="F8F9FA"/>
          </a:solidFill>
          <a:ln w="1270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74320" y="2176272"/>
            <a:ext cx="73152" cy="41148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11480" y="217627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total_amount &gt; 0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0" y="2249424"/>
            <a:ext cx="1005840" cy="256032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00400" y="224942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74320" y="2670048"/>
            <a:ext cx="4023360" cy="411480"/>
          </a:xfrm>
          <a:prstGeom prst="rect">
            <a:avLst/>
          </a:prstGeom>
          <a:solidFill>
            <a:srgbClr val="F8F9FA"/>
          </a:solidFill>
          <a:ln w="1270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74320" y="2670048"/>
            <a:ext cx="73152" cy="41148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11480" y="267004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quantity &gt; 0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0" y="2743200"/>
            <a:ext cx="1005840" cy="256032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200400" y="274320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74320" y="3163824"/>
            <a:ext cx="4023360" cy="411480"/>
          </a:xfrm>
          <a:prstGeom prst="rect">
            <a:avLst/>
          </a:prstGeom>
          <a:solidFill>
            <a:srgbClr val="F8F9FA"/>
          </a:solidFill>
          <a:ln w="1270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74320" y="3163824"/>
            <a:ext cx="73152" cy="41148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11480" y="316382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 IN (5 values)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00400" y="3236976"/>
            <a:ext cx="1005840" cy="256032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200400" y="32369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74320" y="3657600"/>
            <a:ext cx="4023360" cy="411480"/>
          </a:xfrm>
          <a:prstGeom prst="rect">
            <a:avLst/>
          </a:prstGeom>
          <a:solidFill>
            <a:srgbClr val="F8F9FA"/>
          </a:solidFill>
          <a:ln w="1270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274320" y="3657600"/>
            <a:ext cx="73152" cy="41148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11480" y="36576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order_date &lt;= today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200400" y="3730752"/>
            <a:ext cx="1005840" cy="256032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200400" y="373075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663440" y="7772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663440" y="1188720"/>
            <a:ext cx="4114800" cy="594360"/>
          </a:xfrm>
          <a:prstGeom prst="rect">
            <a:avLst/>
          </a:prstGeom>
          <a:solidFill>
            <a:srgbClr val="E1F5EE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663440" y="11887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check_and_split()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663440" y="15087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avg(pass_rates) × 100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577840" y="1783080"/>
            <a:ext cx="0" cy="22860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7406640" y="1783080"/>
            <a:ext cx="0" cy="228600"/>
          </a:xfrm>
          <a:prstGeom prst="line">
            <a:avLst/>
          </a:prstGeom>
          <a:noFill/>
          <a:ln w="19050">
            <a:solidFill>
              <a:srgbClr val="A3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4663440" y="2011680"/>
            <a:ext cx="2331720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663440" y="201168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valid_df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to Silver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086600" y="2011680"/>
            <a:ext cx="1691640" cy="594360"/>
          </a:xfrm>
          <a:prstGeom prst="rect">
            <a:avLst/>
          </a:prstGeom>
          <a:solidFill>
            <a:srgbClr val="A32D2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7086600" y="201168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quarantine_df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Quarantine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720840" y="1481328"/>
            <a:ext cx="0" cy="502920"/>
          </a:xfrm>
          <a:prstGeom prst="line">
            <a:avLst/>
          </a:prstGeom>
          <a:noFill/>
          <a:ln w="19050">
            <a:solidFill>
              <a:srgbClr val="A3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5394960" y="2834640"/>
            <a:ext cx="3108960" cy="594360"/>
          </a:xfrm>
          <a:prstGeom prst="rect">
            <a:avLst/>
          </a:prstGeom>
          <a:solidFill>
            <a:srgbClr val="A32D2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5394960" y="283464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critical_fail = True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notebook.exit() — pipeline halts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274320" y="43434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&lt; 95% → status=FAIL logged, pipeline continues   |   critical_fail → pipeline stops, Silver untouched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SCD Type 2 + Type 6 — Three Steps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1EFE8"/>
          </a:solidFill>
          <a:ln w="1270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Lakehouse · Technical Documentation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2743200" cy="3200400"/>
          </a:xfrm>
          <a:prstGeom prst="rect">
            <a:avLst/>
          </a:prstGeom>
          <a:solidFill>
            <a:srgbClr val="534AB7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80467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11480" y="1261872"/>
            <a:ext cx="2468880" cy="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4320" y="12801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changed records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181051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MERGE: if email/segment/country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221284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name changed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2615184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is_current=False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30175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valid_to=NOW()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017520" y="2423160"/>
            <a:ext cx="201168" cy="0"/>
          </a:xfrm>
          <a:prstGeom prst="line">
            <a:avLst/>
          </a:prstGeom>
          <a:noFill/>
          <a:ln w="25400">
            <a:solidFill>
              <a:srgbClr val="444441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00400" y="804672"/>
            <a:ext cx="2743200" cy="3200400"/>
          </a:xfrm>
          <a:prstGeom prst="rect">
            <a:avLst/>
          </a:prstGeom>
          <a:solidFill>
            <a:srgbClr val="028090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00400" y="80467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337560" y="1261872"/>
            <a:ext cx="2468880" cy="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00400" y="12801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new versions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91840" y="181051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Anti-join: only rows with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91840" y="221284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active version in silver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91840" y="2615184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is_current=True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91840" y="30175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valid_from=NOW()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943600" y="2423160"/>
            <a:ext cx="201168" cy="0"/>
          </a:xfrm>
          <a:prstGeom prst="line">
            <a:avLst/>
          </a:prstGeom>
          <a:noFill/>
          <a:ln w="25400">
            <a:solidFill>
              <a:srgbClr val="444441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126480" y="804672"/>
            <a:ext cx="2743200" cy="3200400"/>
          </a:xfrm>
          <a:prstGeom prst="rect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126480" y="80467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263640" y="1261872"/>
            <a:ext cx="2468880" cy="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126480" y="12801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current_segment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17920" y="181051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6 = Type 2 + Type 1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17920" y="221284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ALL rows (history+current)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17920" y="2615184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current_segment=latest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17920" y="30175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current-state analytics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4114800"/>
            <a:ext cx="8595360" cy="530352"/>
          </a:xfrm>
          <a:prstGeom prst="rect">
            <a:avLst/>
          </a:prstGeom>
          <a:solidFill>
            <a:srgbClr val="FAEEDA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74320" y="4114800"/>
            <a:ext cx="8595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= value during THAT specific period   |   current_segment = value TODAY (regardless of period)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PII Tokenization — SHA-256 + Salt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1EFE8"/>
          </a:solidFill>
          <a:ln w="1270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Lakehouse · Technical Documentation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7772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tokenize, not mask?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4023360" cy="713232"/>
          </a:xfrm>
          <a:prstGeom prst="rect">
            <a:avLst/>
          </a:prstGeom>
          <a:solidFill>
            <a:srgbClr val="F1EFE8"/>
          </a:solidFill>
          <a:ln w="1270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1234440"/>
            <a:ext cx="73152" cy="713232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127101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50876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4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u***@gmail.com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11480" y="1709928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Irreversible · Data destroyed forever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74320" y="2039112"/>
            <a:ext cx="4023360" cy="713232"/>
          </a:xfrm>
          <a:prstGeom prst="rect">
            <a:avLst/>
          </a:prstGeom>
          <a:solidFill>
            <a:srgbClr val="F1EFE8"/>
          </a:solidFill>
          <a:ln w="1270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" y="2039112"/>
            <a:ext cx="73152" cy="7132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11480" y="207568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231343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4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a3f8c2d1e9b47051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11480" y="251460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salt · Audit/fraud possible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74320" y="2843784"/>
            <a:ext cx="4023360" cy="713232"/>
          </a:xfrm>
          <a:prstGeom prst="rect">
            <a:avLst/>
          </a:prstGeom>
          <a:solidFill>
            <a:srgbClr val="F1EFE8"/>
          </a:solidFill>
          <a:ln w="1270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74320" y="2843784"/>
            <a:ext cx="73152" cy="71323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11480" y="288036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1480" y="3118104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4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AES256(email,key)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11480" y="3319272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key · Full recovery anytime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572000" y="77724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tokenize customer_id?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0" y="1234440"/>
            <a:ext cx="4206240" cy="868680"/>
          </a:xfrm>
          <a:prstGeom prst="rect">
            <a:avLst/>
          </a:prstGeom>
          <a:solidFill>
            <a:srgbClr val="F1EFE8"/>
          </a:solidFill>
          <a:ln w="12700">
            <a:solidFill>
              <a:srgbClr val="70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572000" y="1234440"/>
            <a:ext cx="73152" cy="868680"/>
          </a:xfrm>
          <a:prstGeom prst="rect">
            <a:avLst/>
          </a:prstGeom>
          <a:solidFill>
            <a:srgbClr val="708090"/>
          </a:solidFill>
          <a:ln w="12700">
            <a:solidFill>
              <a:srgbClr val="70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709160" y="130759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mature companies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09160" y="161848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controls access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risk is low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0" y="2240280"/>
            <a:ext cx="4206240" cy="868680"/>
          </a:xfrm>
          <a:prstGeom prst="rect">
            <a:avLst/>
          </a:prstGeom>
          <a:solidFill>
            <a:srgbClr val="F1EFE8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572000" y="2240280"/>
            <a:ext cx="73152" cy="8686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09160" y="231343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LGPD / GDPR strict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09160" y="262432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required in Gold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accidental re-ID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0" y="3246120"/>
            <a:ext cx="4206240" cy="868680"/>
          </a:xfrm>
          <a:prstGeom prst="rect">
            <a:avLst/>
          </a:prstGeom>
          <a:solidFill>
            <a:srgbClr val="F1EFE8"/>
          </a:solidFill>
          <a:ln w="12700">
            <a:solidFill>
              <a:srgbClr val="A3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572000" y="3246120"/>
            <a:ext cx="73152" cy="868680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709160" y="331927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 / Healthcare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709160" y="363016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+ row-level security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access is logged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74320" y="437083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salt tokenizes all PII fields — uniqueness comes from salt:value combination, not salt alone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Gold Layer — Star Schema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1EFE8"/>
          </a:solidFill>
          <a:ln w="1270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Lakehouse · Technical Documentation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0" y="1371600"/>
            <a:ext cx="2743200" cy="2286000"/>
          </a:xfrm>
          <a:prstGeom prst="rect">
            <a:avLst/>
          </a:prstGeom>
          <a:solidFill>
            <a:srgbClr val="B8860B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0" y="1371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fact_order_line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37560" y="1828800"/>
            <a:ext cx="2468880" cy="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91840" y="1874520"/>
            <a:ext cx="256032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customer_token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291840" y="2093976"/>
            <a:ext cx="256032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product_id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291840" y="2313432"/>
            <a:ext cx="256032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order_date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291840" y="2532888"/>
            <a:ext cx="256032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quantity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291840" y="2752344"/>
            <a:ext cx="256032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unit_price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291840" y="2971800"/>
            <a:ext cx="256032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total_amount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291840" y="3191256"/>
            <a:ext cx="256032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margin_pct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291840" y="3410712"/>
            <a:ext cx="256032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82880" y="777240"/>
            <a:ext cx="2560320" cy="1536192"/>
          </a:xfrm>
          <a:prstGeom prst="rect">
            <a:avLst/>
          </a:prstGeom>
          <a:solidFill>
            <a:srgbClr val="2C5F2D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82880" y="7772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dim_date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1124712"/>
            <a:ext cx="2377440" cy="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74320" y="1161288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date_sk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74320" y="1399032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full_date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74320" y="1636776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year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74320" y="1874520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74320" y="2112264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is_weekend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82880" y="2743200"/>
            <a:ext cx="2560320" cy="1298448"/>
          </a:xfrm>
          <a:prstGeom prst="rect">
            <a:avLst/>
          </a:prstGeom>
          <a:solidFill>
            <a:srgbClr val="708090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82880" y="27432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dim_customer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3090672"/>
            <a:ext cx="2377440" cy="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74320" y="3127248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customer_token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74320" y="3364992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email_token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74320" y="3602736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segment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74320" y="3840480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country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217920" y="777240"/>
            <a:ext cx="2560320" cy="1298448"/>
          </a:xfrm>
          <a:prstGeom prst="rect">
            <a:avLst/>
          </a:prstGeom>
          <a:solidFill>
            <a:srgbClr val="028090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217920" y="7772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dim_product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309360" y="1124712"/>
            <a:ext cx="2377440" cy="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309360" y="1161288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product_id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309360" y="1399032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product_name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309360" y="1636776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309360" y="1874520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unit_cost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274320" y="437083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PII in Gold  ·  No surrogate keys  ·  Natural keys (customer_token, product_id)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Quality Monitoring — 5 Checks per Table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1EFE8"/>
          </a:solidFill>
          <a:ln w="1270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Lakehouse · Technical Documentation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45720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22960" y="822960"/>
            <a:ext cx="7955280" cy="548640"/>
          </a:xfrm>
          <a:prstGeom prst="rect">
            <a:avLst/>
          </a:prstGeom>
          <a:solidFill>
            <a:srgbClr val="F1EFE8"/>
          </a:solidFill>
          <a:ln w="1270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822960"/>
            <a:ext cx="274320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volume_ok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0" y="822960"/>
            <a:ext cx="502920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&gt;= min_rows — detects silent pipeline failure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536192"/>
            <a:ext cx="457200" cy="54864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22960" y="1536192"/>
            <a:ext cx="7955280" cy="548640"/>
          </a:xfrm>
          <a:prstGeom prst="rect">
            <a:avLst/>
          </a:prstGeom>
          <a:solidFill>
            <a:srgbClr val="F1EFE8"/>
          </a:solidFill>
          <a:ln w="1270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1536192"/>
            <a:ext cx="274320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A75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freshness_ok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0" y="1536192"/>
            <a:ext cx="502920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since update &lt;= SLA — detects stale data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249424"/>
            <a:ext cx="457200" cy="54864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22960" y="2249424"/>
            <a:ext cx="7955280" cy="548640"/>
          </a:xfrm>
          <a:prstGeom prst="rect">
            <a:avLst/>
          </a:prstGeom>
          <a:solidFill>
            <a:srgbClr val="F1EFE8"/>
          </a:solidFill>
          <a:ln w="1270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68680" y="2249424"/>
            <a:ext cx="274320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34A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pk_unique_ok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0" y="2249424"/>
            <a:ext cx="502920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distinct(pk) == total — detects duplicates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962656"/>
            <a:ext cx="457200" cy="548640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22960" y="2962656"/>
            <a:ext cx="7955280" cy="548640"/>
          </a:xfrm>
          <a:prstGeom prst="rect">
            <a:avLst/>
          </a:prstGeom>
          <a:solidFill>
            <a:srgbClr val="F1EFE8"/>
          </a:solidFill>
          <a:ln w="1270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68680" y="2962656"/>
            <a:ext cx="274320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3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null_{col}_ok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0" y="2962656"/>
            <a:ext cx="502920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NULLs in critical columns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3675888"/>
            <a:ext cx="45720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22960" y="3675888"/>
            <a:ext cx="7955280" cy="548640"/>
          </a:xfrm>
          <a:prstGeom prst="rect">
            <a:avLst/>
          </a:prstGeom>
          <a:solidFill>
            <a:srgbClr val="F1EFE8"/>
          </a:solidFill>
          <a:ln w="1270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68680" y="3675888"/>
            <a:ext cx="274320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valid_status_ok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0" y="3675888"/>
            <a:ext cx="502920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values within allowed domain (silver.orders)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4370832"/>
            <a:ext cx="8595360" cy="274320"/>
          </a:xfrm>
          <a:prstGeom prst="rect">
            <a:avLst/>
          </a:prstGeom>
          <a:solidFill>
            <a:srgbClr val="FAEEDA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74320" y="437083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trend: LAG window detects HEALTHY → DEGRADED regressions across pipeline runs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Job Scheduling — Two Independent Jobs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1EFE8"/>
          </a:solidFill>
          <a:ln w="1270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Lakehouse · Technical Documentation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4023360" cy="3840480"/>
          </a:xfrm>
          <a:prstGeom prst="rect">
            <a:avLst/>
          </a:prstGeom>
          <a:solidFill>
            <a:srgbClr val="E1F5EE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402336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804672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1 — Daily Pipeline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38988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Schedule: every day 00:00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1737360"/>
            <a:ext cx="3749040" cy="347472"/>
          </a:xfrm>
          <a:prstGeom prst="rect">
            <a:avLst/>
          </a:prstGeom>
          <a:solidFill>
            <a:srgbClr val="EBF8F5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1737360"/>
            <a:ext cx="36576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01_bronze_orders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1480" y="2176272"/>
            <a:ext cx="3749040" cy="347472"/>
          </a:xfrm>
          <a:prstGeom prst="rect">
            <a:avLst/>
          </a:prstGeom>
          <a:solidFill>
            <a:srgbClr val="EBF8F5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2176272"/>
            <a:ext cx="36576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02_bronze_customers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2615184"/>
            <a:ext cx="3749040" cy="347472"/>
          </a:xfrm>
          <a:prstGeom prst="rect">
            <a:avLst/>
          </a:prstGeom>
          <a:solidFill>
            <a:srgbClr val="EBF8F5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2615184"/>
            <a:ext cx="36576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03_silver_orders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3054096"/>
            <a:ext cx="3749040" cy="347472"/>
          </a:xfrm>
          <a:prstGeom prst="rect">
            <a:avLst/>
          </a:prstGeom>
          <a:solidFill>
            <a:srgbClr val="EBF8F5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3054096"/>
            <a:ext cx="36576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04_silver_customers_scd2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3493008"/>
            <a:ext cx="3749040" cy="347472"/>
          </a:xfrm>
          <a:prstGeom prst="rect">
            <a:avLst/>
          </a:prstGeom>
          <a:solidFill>
            <a:srgbClr val="EBF8F5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3493008"/>
            <a:ext cx="36576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05_gold_all  (mode=incremental)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11480" y="3931920"/>
            <a:ext cx="3749040" cy="347472"/>
          </a:xfrm>
          <a:prstGeom prst="rect">
            <a:avLst/>
          </a:prstGeom>
          <a:solidFill>
            <a:srgbClr val="EBF8F5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3931920"/>
            <a:ext cx="36576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 06_quality_and_analytics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63440" y="804672"/>
            <a:ext cx="4114800" cy="3840480"/>
          </a:xfrm>
          <a:prstGeom prst="rect">
            <a:avLst/>
          </a:prstGeom>
          <a:solidFill>
            <a:srgbClr val="FAEEDA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663440" y="804672"/>
            <a:ext cx="4114800" cy="50292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663440" y="804672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2 — Weekly Optimize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754880" y="138988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Schedule: Sunday 02:00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00600" y="1737360"/>
            <a:ext cx="3840480" cy="594360"/>
          </a:xfrm>
          <a:prstGeom prst="rect">
            <a:avLst/>
          </a:prstGeom>
          <a:solidFill>
            <a:srgbClr val="FFFBF0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46320" y="1773936"/>
            <a:ext cx="374904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07_optimize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846320" y="2029968"/>
            <a:ext cx="374904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tables=all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00600" y="2450592"/>
            <a:ext cx="3840480" cy="594360"/>
          </a:xfrm>
          <a:prstGeom prst="rect">
            <a:avLst/>
          </a:prstGeom>
          <a:solidFill>
            <a:srgbClr val="FFFBF0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46320" y="2487168"/>
            <a:ext cx="374904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dry_run=false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846320" y="2743200"/>
            <a:ext cx="374904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vacuum_hours=168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800600" y="3163824"/>
            <a:ext cx="3840480" cy="594360"/>
          </a:xfrm>
          <a:prstGeom prst="rect">
            <a:avLst/>
          </a:prstGeom>
          <a:solidFill>
            <a:srgbClr val="FFFBF0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846320" y="3200400"/>
            <a:ext cx="374904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OPTIMIZE + ZORDER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846320" y="3456432"/>
            <a:ext cx="374904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gold + silver tables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800600" y="3877056"/>
            <a:ext cx="3840480" cy="594360"/>
          </a:xfrm>
          <a:prstGeom prst="rect">
            <a:avLst/>
          </a:prstGeom>
          <a:solidFill>
            <a:srgbClr val="FFFBF0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846320" y="3913632"/>
            <a:ext cx="374904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VACUUM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846320" y="4169664"/>
            <a:ext cx="374904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7 days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274320" y="437083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in Job 2 never blocks Job 1  ·  Each job runs on Serverless compute (Free Edition compatible)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Surrogate Keys — Why Not Used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1EFE8"/>
          </a:solidFill>
          <a:ln w="1270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Lakehouse · Technical Documentation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4114800" cy="2103120"/>
          </a:xfrm>
          <a:prstGeom prst="rect">
            <a:avLst/>
          </a:prstGeom>
          <a:solidFill>
            <a:srgbClr val="FCEBEB"/>
          </a:solidFill>
          <a:ln w="12700">
            <a:solidFill>
              <a:srgbClr val="A3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80467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Kimball Model (1990s-2000s)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3258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Legacy DBs (Teradata, Netezza)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72821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Integer joins 10x faster than strings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13055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fact.customer_sk → dim.customer_sk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53288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SK isolates fact from key changes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804672"/>
            <a:ext cx="4114800" cy="2103120"/>
          </a:xfrm>
          <a:prstGeom prst="rect">
            <a:avLst/>
          </a:prstGeom>
          <a:solidFill>
            <a:srgbClr val="E1F5EE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54880" y="80467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Delta Lake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92040" y="13258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ZORDER optimizes string joins natively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92040" y="172821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Predicate pushdown + bloom filters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92040" y="213055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customer_token is already stable + anonymous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92040" y="253288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SCD isolation handled in Silver layer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3017520"/>
            <a:ext cx="8595360" cy="594360"/>
          </a:xfrm>
          <a:prstGeom prst="rect">
            <a:avLst/>
          </a:prstGeom>
          <a:solidFill>
            <a:srgbClr val="EEEDFE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74320" y="301752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natural keys (customer_token, product_id) used directly in Gold.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monotonically_increasing_id() is also non-sequential and unreliable as a stable SK.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4320" y="437083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in projects targeting legacy BI tools that rely on integer SK joins, surrogate keys may still be appropriate.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Pipeline Status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1EFE8"/>
          </a:solidFill>
          <a:ln w="1270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Lakehouse · Technical Documentation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1280160" cy="1005840"/>
          </a:xfrm>
          <a:prstGeom prst="rect">
            <a:avLst/>
          </a:prstGeom>
          <a:solidFill>
            <a:srgbClr val="CD7F3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822960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645920" y="868680"/>
            <a:ext cx="5303520" cy="347472"/>
          </a:xfrm>
          <a:prstGeom prst="rect">
            <a:avLst/>
          </a:prstGeom>
          <a:solidFill>
            <a:srgbClr val="F1EFE8"/>
          </a:solidFill>
          <a:ln w="1270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691640" y="868680"/>
            <a:ext cx="384048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dev_bronze.orders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315200" y="868680"/>
            <a:ext cx="1371600" cy="347472"/>
          </a:xfrm>
          <a:prstGeom prst="rect">
            <a:avLst/>
          </a:prstGeom>
          <a:solidFill>
            <a:srgbClr val="CD7F32"/>
          </a:solidFill>
          <a:ln w="12700">
            <a:solidFill>
              <a:srgbClr val="CD7F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0" y="86868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rows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645920" y="1325880"/>
            <a:ext cx="5303520" cy="347472"/>
          </a:xfrm>
          <a:prstGeom prst="rect">
            <a:avLst/>
          </a:prstGeom>
          <a:solidFill>
            <a:srgbClr val="F1EFE8"/>
          </a:solidFill>
          <a:ln w="1270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691640" y="1325880"/>
            <a:ext cx="384048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dev_bronze.customers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315200" y="1325880"/>
            <a:ext cx="1371600" cy="347472"/>
          </a:xfrm>
          <a:prstGeom prst="rect">
            <a:avLst/>
          </a:prstGeom>
          <a:solidFill>
            <a:srgbClr val="CD7F32"/>
          </a:solidFill>
          <a:ln w="12700">
            <a:solidFill>
              <a:srgbClr val="CD7F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0" y="132588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rows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1920240"/>
            <a:ext cx="1280160" cy="1463040"/>
          </a:xfrm>
          <a:prstGeom prst="rect">
            <a:avLst/>
          </a:prstGeom>
          <a:solidFill>
            <a:srgbClr val="70809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74320" y="1920240"/>
            <a:ext cx="1280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645920" y="1965960"/>
            <a:ext cx="5303520" cy="347472"/>
          </a:xfrm>
          <a:prstGeom prst="rect">
            <a:avLst/>
          </a:prstGeom>
          <a:solidFill>
            <a:srgbClr val="F1EFE8"/>
          </a:solidFill>
          <a:ln w="1270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691640" y="1965960"/>
            <a:ext cx="384048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dev_silver.orders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315200" y="1965960"/>
            <a:ext cx="1371600" cy="347472"/>
          </a:xfrm>
          <a:prstGeom prst="rect">
            <a:avLst/>
          </a:prstGeom>
          <a:solidFill>
            <a:srgbClr val="708090"/>
          </a:solidFill>
          <a:ln w="12700">
            <a:solidFill>
              <a:srgbClr val="70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315200" y="196596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rows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645920" y="2423160"/>
            <a:ext cx="5303520" cy="347472"/>
          </a:xfrm>
          <a:prstGeom prst="rect">
            <a:avLst/>
          </a:prstGeom>
          <a:solidFill>
            <a:srgbClr val="F1EFE8"/>
          </a:solidFill>
          <a:ln w="1270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691640" y="2423160"/>
            <a:ext cx="384048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dev_silver.customers_scd2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315200" y="2423160"/>
            <a:ext cx="1371600" cy="347472"/>
          </a:xfrm>
          <a:prstGeom prst="rect">
            <a:avLst/>
          </a:prstGeom>
          <a:solidFill>
            <a:srgbClr val="708090"/>
          </a:solidFill>
          <a:ln w="12700">
            <a:solidFill>
              <a:srgbClr val="70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315200" y="242316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rows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645920" y="2880360"/>
            <a:ext cx="5303520" cy="347472"/>
          </a:xfrm>
          <a:prstGeom prst="rect">
            <a:avLst/>
          </a:prstGeom>
          <a:solidFill>
            <a:srgbClr val="F1EFE8"/>
          </a:solidFill>
          <a:ln w="1270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691640" y="2880360"/>
            <a:ext cx="384048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dev_silver.products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315200" y="2880360"/>
            <a:ext cx="1371600" cy="347472"/>
          </a:xfrm>
          <a:prstGeom prst="rect">
            <a:avLst/>
          </a:prstGeom>
          <a:solidFill>
            <a:srgbClr val="708090"/>
          </a:solidFill>
          <a:ln w="12700">
            <a:solidFill>
              <a:srgbClr val="70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315200" y="288036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rows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4320" y="3474720"/>
            <a:ext cx="1280160" cy="1920240"/>
          </a:xfrm>
          <a:prstGeom prst="rect">
            <a:avLst/>
          </a:prstGeom>
          <a:solidFill>
            <a:srgbClr val="B8860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74320" y="3474720"/>
            <a:ext cx="12801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645920" y="3520440"/>
            <a:ext cx="5303520" cy="347472"/>
          </a:xfrm>
          <a:prstGeom prst="rect">
            <a:avLst/>
          </a:prstGeom>
          <a:solidFill>
            <a:srgbClr val="F1EFE8"/>
          </a:solidFill>
          <a:ln w="1270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691640" y="3520440"/>
            <a:ext cx="384048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dev_gold.fact_order_line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315200" y="3520440"/>
            <a:ext cx="1371600" cy="34747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315200" y="352044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rows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1645920" y="3977640"/>
            <a:ext cx="5303520" cy="347472"/>
          </a:xfrm>
          <a:prstGeom prst="rect">
            <a:avLst/>
          </a:prstGeom>
          <a:solidFill>
            <a:srgbClr val="F1EFE8"/>
          </a:solidFill>
          <a:ln w="1270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1691640" y="3977640"/>
            <a:ext cx="384048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dev_gold.dim_customer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315200" y="3977640"/>
            <a:ext cx="1371600" cy="34747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315200" y="397764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rows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1645920" y="4434840"/>
            <a:ext cx="5303520" cy="347472"/>
          </a:xfrm>
          <a:prstGeom prst="rect">
            <a:avLst/>
          </a:prstGeom>
          <a:solidFill>
            <a:srgbClr val="F1EFE8"/>
          </a:solidFill>
          <a:ln w="1270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1691640" y="4434840"/>
            <a:ext cx="384048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dev_gold.dim_date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7315200" y="4434840"/>
            <a:ext cx="1371600" cy="34747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7315200" y="443484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4018 rows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1645920" y="4892040"/>
            <a:ext cx="5303520" cy="347472"/>
          </a:xfrm>
          <a:prstGeom prst="rect">
            <a:avLst/>
          </a:prstGeom>
          <a:solidFill>
            <a:srgbClr val="F1EFE8"/>
          </a:solidFill>
          <a:ln w="1270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1691640" y="4892040"/>
            <a:ext cx="384048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dev_gold.dim_product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7315200" y="4892040"/>
            <a:ext cx="1371600" cy="34747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7315200" y="489204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rows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274320" y="4370832"/>
            <a:ext cx="8595360" cy="274320"/>
          </a:xfrm>
          <a:prstGeom prst="rect">
            <a:avLst/>
          </a:prstGeom>
          <a:solidFill>
            <a:srgbClr val="E1F5EE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274320" y="437083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complete · Auto Loader validated · Zero duplicates · Quality score 100%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github.com/alexsrocha82/ecommerce-lakehouse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Databricks Free Edition · PySpark · Delta Lake · Unity Catalog · Auto Loader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611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Medallion Architecture · SCD Type 2+6 · SHA-256 PII Tokenization · Quality Framework · Star Schema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1177</Words>
  <Application>Microsoft Office PowerPoint</Application>
  <PresentationFormat>On-screen Show (16:9)</PresentationFormat>
  <Paragraphs>245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E-Commerce Lakehouse</dc:title>
  <dc:subject>PptxGenJS Presentation</dc:subject>
  <dc:creator>ecommerce-lakehouse</dc:creator>
  <cp:lastModifiedBy>Alex Sandro Rocha</cp:lastModifiedBy>
  <cp:revision>2</cp:revision>
  <dcterms:created xsi:type="dcterms:W3CDTF">2026-05-24T19:31:38Z</dcterms:created>
  <dcterms:modified xsi:type="dcterms:W3CDTF">2026-05-25T13:49:12Z</dcterms:modified>
</cp:coreProperties>
</file>